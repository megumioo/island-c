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8778240" cy="4937760"/>
  <p:notesSz cx="4937760" cy="87782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778240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72651" y="4574286"/>
            <a:ext cx="456677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 / 13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853368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53368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12" y="105334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912" y="105334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53368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53368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53368" y="438912"/>
            <a:ext cx="3071397" cy="3949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2025年度述职报告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762821" y="245655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62821" y="245655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62821" y="245655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762821" y="245655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62821" y="2456557"/>
            <a:ext cx="3252491" cy="2687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聚焦绩效合约，创造超越指标的价值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62821" y="288989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762821" y="288989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62821" y="2889897"/>
            <a:ext cx="3252491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2026年1月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778240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72651" y="4574286"/>
            <a:ext cx="456677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 / 13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12" y="95454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912" y="95454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8912" y="438912"/>
            <a:ext cx="8080416" cy="2961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目录与汇报逻辑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6736" y="95454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26736" y="95454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26736" y="95454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26736" y="95454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26736" y="15031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6736" y="15031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26736" y="95454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26736" y="95454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26736" y="954548"/>
            <a:ext cx="6324768" cy="2194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我的汇报分为四个部分，核心逻辑是展示如何达成绩效，并创造超越指标的价值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26736" y="15031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226736" y="15031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316736" y="1503188"/>
            <a:ext cx="6144768" cy="829818"/>
          </a:xfrm>
          <a:prstGeom prst="roundRect">
            <a:avLst>
              <a:gd name="adj" fmla="val 6612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26736" y="255246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26736" y="255246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1316736" y="2552462"/>
            <a:ext cx="6144768" cy="829818"/>
          </a:xfrm>
          <a:prstGeom prst="roundRect">
            <a:avLst>
              <a:gd name="adj" fmla="val 6612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26736" y="360173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226736" y="360173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316736" y="3601736"/>
            <a:ext cx="6144768" cy="829818"/>
          </a:xfrm>
          <a:prstGeom prst="roundRect">
            <a:avLst>
              <a:gd name="adj" fmla="val 6612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26736" y="465101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226736" y="465101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1316736" y="4651010"/>
            <a:ext cx="6144768" cy="829818"/>
          </a:xfrm>
          <a:prstGeom prst="roundRect">
            <a:avLst>
              <a:gd name="adj" fmla="val 6612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98186" y="1753505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398186" y="1753505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488186" y="1753505"/>
            <a:ext cx="329184" cy="329184"/>
          </a:xfrm>
          <a:prstGeom prst="roundRect">
            <a:avLst>
              <a:gd name="adj" fmla="val 69905000000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91962" y="167463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891962" y="167463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398186" y="2802779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398186" y="2802779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488186" y="2802779"/>
            <a:ext cx="329184" cy="329184"/>
          </a:xfrm>
          <a:prstGeom prst="roundRect">
            <a:avLst>
              <a:gd name="adj" fmla="val 69905000000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891962" y="2723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891962" y="2723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398186" y="385205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398186" y="385205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488186" y="3852053"/>
            <a:ext cx="329184" cy="329184"/>
          </a:xfrm>
          <a:prstGeom prst="roundRect">
            <a:avLst>
              <a:gd name="adj" fmla="val 69905000000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891962" y="37731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891962" y="37731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398186" y="490132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398186" y="490132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488186" y="4901327"/>
            <a:ext cx="329184" cy="329184"/>
          </a:xfrm>
          <a:prstGeom prst="roundRect">
            <a:avLst>
              <a:gd name="adj" fmla="val 69905000000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891962" y="48224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891962" y="48224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891962" y="167463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891962" y="167463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891962" y="1674638"/>
            <a:ext cx="1537884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工作回顾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891962" y="197639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891962" y="197639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891962" y="1976390"/>
            <a:ext cx="1537884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两大核心阵地的成果展示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891962" y="2723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891962" y="2723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891962" y="2723912"/>
            <a:ext cx="1290996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不足与反思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891962" y="302566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1891962" y="302566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891962" y="3025664"/>
            <a:ext cx="1290996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三点不足的深度思考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891962" y="37731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891962" y="37731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1891962" y="3773186"/>
            <a:ext cx="1234846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未来计划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891962" y="407493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891962" y="407493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891962" y="4074938"/>
            <a:ext cx="1234846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2026年的务实聚焦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891962" y="48224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891962" y="48224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1891962" y="4822460"/>
            <a:ext cx="1537884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建议与请求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891962" y="51242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1891962" y="51242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1891962" y="5124212"/>
            <a:ext cx="1537884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务实建议与核心资源申请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778240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72651" y="4574286"/>
            <a:ext cx="456677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3 / 13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8912" y="438912"/>
            <a:ext cx="8080416" cy="2961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年度绩效总览（数据仪表盘）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8912" y="735092"/>
            <a:ext cx="8080416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KPI与GS目标100%达成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8912" y="1160288"/>
            <a:ext cx="3867912" cy="1762506"/>
          </a:xfrm>
          <a:prstGeom prst="roundRect">
            <a:avLst>
              <a:gd name="adj" fmla="val 3113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1416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81416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471416" y="1160288"/>
            <a:ext cx="3867912" cy="1762506"/>
          </a:xfrm>
          <a:prstGeom prst="roundRect">
            <a:avLst>
              <a:gd name="adj" fmla="val 3113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8912" y="30873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8912" y="30873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38912" y="3087386"/>
            <a:ext cx="3867912" cy="1762506"/>
          </a:xfrm>
          <a:prstGeom prst="roundRect">
            <a:avLst>
              <a:gd name="adj" fmla="val 3113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1416" y="30873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381416" y="30873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471416" y="3087386"/>
            <a:ext cx="3867912" cy="1762506"/>
          </a:xfrm>
          <a:prstGeom prst="roundRect">
            <a:avLst>
              <a:gd name="adj" fmla="val 3113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75226" y="1743218"/>
            <a:ext cx="3595284" cy="49377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71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75226" y="229185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5226" y="229185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75226" y="2291858"/>
            <a:ext cx="3595284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新产品全流程转化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5226" y="25318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75226" y="25318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75226" y="2531888"/>
            <a:ext cx="3595284" cy="1645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其中57个预混工艺，占比80%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07730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607730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607730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607730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607730" y="1743218"/>
            <a:ext cx="3595284" cy="49377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228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07730" y="229185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607730" y="229185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607730" y="2291858"/>
            <a:ext cx="3595284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产品库总数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07730" y="25318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607730" y="25318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607730" y="2531888"/>
            <a:ext cx="3595284" cy="1645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从118个增长至228个，实现翻倍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75226" y="331370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75226" y="331370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75226" y="367031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75226" y="367031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75226" y="3670316"/>
            <a:ext cx="3595284" cy="49377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34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575226" y="421895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75226" y="421895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75226" y="4218956"/>
            <a:ext cx="3595284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关键错误纠正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75226" y="44589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75226" y="44589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75226" y="4458986"/>
            <a:ext cx="3595284" cy="1645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优化346份规程，重建资料库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607730" y="331370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4607730" y="331370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607730" y="367031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607730" y="367031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607730" y="3670316"/>
            <a:ext cx="3595284" cy="49377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100+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4607730" y="421895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4607730" y="421895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607730" y="4218956"/>
            <a:ext cx="3595284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文件框架输出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607730" y="44589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4607730" y="44589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4607730" y="4458986"/>
            <a:ext cx="3595284" cy="1645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完成5个验证方案，建立完整体系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75226" y="14277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7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5226" y="1427750"/>
            <a:ext cx="144018" cy="164592"/>
          </a:xfrm>
          <a:prstGeom prst="rect">
            <a:avLst/>
          </a:prstGeom>
        </p:spPr>
      </p:pic>
      <p:sp>
        <p:nvSpPr>
          <p:cNvPr id="80" name="Text 77"/>
          <p:cNvSpPr/>
          <p:nvPr/>
        </p:nvSpPr>
        <p:spPr>
          <a:xfrm>
            <a:off x="801540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1" name="Text 78"/>
          <p:cNvSpPr/>
          <p:nvPr/>
        </p:nvSpPr>
        <p:spPr>
          <a:xfrm>
            <a:off x="801540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2" name="Text 79"/>
          <p:cNvSpPr/>
          <p:nvPr/>
        </p:nvSpPr>
        <p:spPr>
          <a:xfrm>
            <a:off x="801540" y="1386602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科研转化</a:t>
            </a:r>
            <a:endParaRPr lang="en-US" sz="1200" dirty="0"/>
          </a:p>
        </p:txBody>
      </p:sp>
      <p:sp>
        <p:nvSpPr>
          <p:cNvPr id="83" name="Text 80"/>
          <p:cNvSpPr/>
          <p:nvPr/>
        </p:nvSpPr>
        <p:spPr>
          <a:xfrm>
            <a:off x="4607730" y="14277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8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97730" y="1427750"/>
            <a:ext cx="164592" cy="164592"/>
          </a:xfrm>
          <a:prstGeom prst="rect">
            <a:avLst/>
          </a:prstGeom>
        </p:spPr>
      </p:pic>
      <p:sp>
        <p:nvSpPr>
          <p:cNvPr id="85" name="Text 81"/>
          <p:cNvSpPr/>
          <p:nvPr/>
        </p:nvSpPr>
        <p:spPr>
          <a:xfrm>
            <a:off x="4854618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6" name="Text 82"/>
          <p:cNvSpPr/>
          <p:nvPr/>
        </p:nvSpPr>
        <p:spPr>
          <a:xfrm>
            <a:off x="4854618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7" name="Text 83"/>
          <p:cNvSpPr/>
          <p:nvPr/>
        </p:nvSpPr>
        <p:spPr>
          <a:xfrm>
            <a:off x="4854618" y="1386602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规模增长</a:t>
            </a:r>
            <a:endParaRPr lang="en-US" sz="1200" dirty="0"/>
          </a:p>
        </p:txBody>
      </p:sp>
      <p:sp>
        <p:nvSpPr>
          <p:cNvPr id="88" name="Text 84"/>
          <p:cNvSpPr/>
          <p:nvPr/>
        </p:nvSpPr>
        <p:spPr>
          <a:xfrm>
            <a:off x="575226" y="335484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8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5226" y="3354848"/>
            <a:ext cx="164592" cy="164592"/>
          </a:xfrm>
          <a:prstGeom prst="rect">
            <a:avLst/>
          </a:prstGeom>
        </p:spPr>
      </p:pic>
      <p:sp>
        <p:nvSpPr>
          <p:cNvPr id="90" name="Text 85"/>
          <p:cNvSpPr/>
          <p:nvPr/>
        </p:nvSpPr>
        <p:spPr>
          <a:xfrm>
            <a:off x="822114" y="331370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1" name="Text 86"/>
          <p:cNvSpPr/>
          <p:nvPr/>
        </p:nvSpPr>
        <p:spPr>
          <a:xfrm>
            <a:off x="822114" y="331370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2" name="Text 87"/>
          <p:cNvSpPr/>
          <p:nvPr/>
        </p:nvSpPr>
        <p:spPr>
          <a:xfrm>
            <a:off x="822114" y="3313700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质量加固</a:t>
            </a:r>
            <a:endParaRPr lang="en-US" sz="1200" dirty="0"/>
          </a:p>
        </p:txBody>
      </p:sp>
      <p:sp>
        <p:nvSpPr>
          <p:cNvPr id="93" name="Text 88"/>
          <p:cNvSpPr/>
          <p:nvPr/>
        </p:nvSpPr>
        <p:spPr>
          <a:xfrm>
            <a:off x="4607730" y="335484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9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97730" y="3354848"/>
            <a:ext cx="205740" cy="164592"/>
          </a:xfrm>
          <a:prstGeom prst="rect">
            <a:avLst/>
          </a:prstGeom>
        </p:spPr>
      </p:pic>
      <p:sp>
        <p:nvSpPr>
          <p:cNvPr id="95" name="Text 89"/>
          <p:cNvSpPr/>
          <p:nvPr/>
        </p:nvSpPr>
        <p:spPr>
          <a:xfrm>
            <a:off x="4895766" y="331370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6" name="Text 90"/>
          <p:cNvSpPr/>
          <p:nvPr/>
        </p:nvSpPr>
        <p:spPr>
          <a:xfrm>
            <a:off x="4895766" y="331370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7" name="Text 91"/>
          <p:cNvSpPr/>
          <p:nvPr/>
        </p:nvSpPr>
        <p:spPr>
          <a:xfrm>
            <a:off x="4895766" y="3313700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中试奠基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778240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72651" y="4574286"/>
            <a:ext cx="456677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 / 13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8912" y="438912"/>
            <a:ext cx="8080416" cy="2961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成果一：保障科研交付满分，化解产能危机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8912" y="735092"/>
            <a:ext cx="8080416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坚守交付生命线，响应需求零延误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8912" y="1160288"/>
            <a:ext cx="7900416" cy="10287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912" y="235358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8912" y="235358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38912" y="2353580"/>
            <a:ext cx="7900416" cy="2389263"/>
          </a:xfrm>
          <a:prstGeom prst="roundRect">
            <a:avLst>
              <a:gd name="adj" fmla="val 2296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5226" y="1743218"/>
            <a:ext cx="7627788" cy="2194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交付周期与质量两项硬性KPI全年保持满分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8368" y="257303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8368" y="257303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8368" y="29296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68368" y="29296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5226" y="14277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5226" y="1427750"/>
            <a:ext cx="185166" cy="164592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842688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842688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842688" y="1386602"/>
            <a:ext cx="818651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KPI达成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68368" y="261418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2614184"/>
            <a:ext cx="164592" cy="16459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815256" y="257303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815256" y="257303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815256" y="2573036"/>
            <a:ext cx="1825920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【一线导向】紧急事件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568368" y="29296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568368" y="29296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568368" y="349747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568368" y="349747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568368" y="406529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568368" y="406529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568368" y="29296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568368" y="29296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568368" y="2929652"/>
            <a:ext cx="7641504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11月产能危机</a:t>
            </a:r>
            <a:endParaRPr lang="en-US" sz="1000" dirty="0"/>
          </a:p>
        </p:txBody>
      </p:sp>
      <p:sp>
        <p:nvSpPr>
          <p:cNvPr id="56" name="Text 52"/>
          <p:cNvSpPr/>
          <p:nvPr/>
        </p:nvSpPr>
        <p:spPr>
          <a:xfrm>
            <a:off x="568368" y="319025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568368" y="319025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568368" y="3190256"/>
            <a:ext cx="7641504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</a:rPr>
              <a:t>生产人员全部转向中试，产线面临停摆风险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568368" y="349747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568368" y="349747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568368" y="3497473"/>
            <a:ext cx="7641504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应急响应</a:t>
            </a:r>
            <a:endParaRPr lang="en-US" sz="1000" dirty="0"/>
          </a:p>
        </p:txBody>
      </p:sp>
      <p:sp>
        <p:nvSpPr>
          <p:cNvPr id="62" name="Text 58"/>
          <p:cNvSpPr/>
          <p:nvPr/>
        </p:nvSpPr>
        <p:spPr>
          <a:xfrm>
            <a:off x="568368" y="375807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568368" y="375807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568368" y="3758077"/>
            <a:ext cx="7641504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</a:rPr>
              <a:t>作为核心成员参与重组4人临时产线，承担配制工作</a:t>
            </a:r>
            <a:endParaRPr lang="en-US" sz="900" dirty="0"/>
          </a:p>
        </p:txBody>
      </p:sp>
      <p:sp>
        <p:nvSpPr>
          <p:cNvPr id="65" name="Text 61"/>
          <p:cNvSpPr/>
          <p:nvPr/>
        </p:nvSpPr>
        <p:spPr>
          <a:xfrm>
            <a:off x="568368" y="406529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568368" y="406529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568368" y="4065294"/>
            <a:ext cx="7641504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最终成果</a:t>
            </a:r>
            <a:endParaRPr lang="en-US" sz="1000" dirty="0"/>
          </a:p>
        </p:txBody>
      </p:sp>
      <p:sp>
        <p:nvSpPr>
          <p:cNvPr id="68" name="Text 64"/>
          <p:cNvSpPr/>
          <p:nvPr/>
        </p:nvSpPr>
        <p:spPr>
          <a:xfrm>
            <a:off x="568368" y="432589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568368" y="432589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0" name="Text 66"/>
          <p:cNvSpPr/>
          <p:nvPr/>
        </p:nvSpPr>
        <p:spPr>
          <a:xfrm>
            <a:off x="568368" y="4325898"/>
            <a:ext cx="7641504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</a:rPr>
              <a:t>协同团队高效完成36个紧急订单的生产与入库，实现交付零延误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778240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72651" y="4574286"/>
            <a:ext cx="456677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5 / 13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8912" y="438912"/>
            <a:ext cx="8080416" cy="2961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成果二：驱动产品规模与预混技术升级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8912" y="735092"/>
            <a:ext cx="8080416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高效转化支撑业务，预混工艺引领升级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53500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53500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38912" y="1160288"/>
            <a:ext cx="4539996" cy="864108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3500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53500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75226" y="1386602"/>
            <a:ext cx="4267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预混工艺占比分析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53500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053500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143500" y="1160288"/>
            <a:ext cx="3195828" cy="154305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53500" y="286793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53500" y="286793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143500" y="2867930"/>
            <a:ext cx="3195828" cy="1762506"/>
          </a:xfrm>
          <a:prstGeom prst="roundRect">
            <a:avLst>
              <a:gd name="adj" fmla="val 3113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79814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279814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79814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279814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279814" y="1743218"/>
            <a:ext cx="2923200" cy="49377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71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279814" y="229185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79814" y="229185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279814" y="2291858"/>
            <a:ext cx="2923200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新产品全流程转化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79814" y="309424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279814" y="309424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279814" y="34508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279814" y="34508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279814" y="3450860"/>
            <a:ext cx="2923200" cy="49377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228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5279814" y="399950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279814" y="399950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279814" y="3999500"/>
            <a:ext cx="2923200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产品库总数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79814" y="423953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279814" y="423953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279814" y="4239530"/>
            <a:ext cx="2923200" cy="1645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从118个增长至228个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279814" y="14277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69814" y="1427750"/>
            <a:ext cx="164592" cy="164592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5526702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5526702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5526702" y="1386602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主导转化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5279814" y="31353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69814" y="3135392"/>
            <a:ext cx="164592" cy="164592"/>
          </a:xfrm>
          <a:prstGeom prst="rect">
            <a:avLst/>
          </a:prstGeom>
        </p:spPr>
      </p:pic>
      <p:sp>
        <p:nvSpPr>
          <p:cNvPr id="64" name="Text 60"/>
          <p:cNvSpPr/>
          <p:nvPr/>
        </p:nvSpPr>
        <p:spPr>
          <a:xfrm>
            <a:off x="5526702" y="309424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5526702" y="309424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5526702" y="3094244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规模翻倍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778240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72651" y="4574286"/>
            <a:ext cx="456677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6 / 13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8912" y="438912"/>
            <a:ext cx="8080416" cy="2961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成果三：夯实质量根基，主导体系优化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8912" y="735092"/>
            <a:ext cx="8080416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主动夯实质量体系，完成关键任务(GS)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8912" y="1160288"/>
            <a:ext cx="7900416" cy="1584198"/>
          </a:xfrm>
          <a:prstGeom prst="roundRect">
            <a:avLst>
              <a:gd name="adj" fmla="val 3463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912" y="290907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8912" y="290907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38912" y="2909078"/>
            <a:ext cx="7900416" cy="1418213"/>
          </a:xfrm>
          <a:prstGeom prst="roundRect">
            <a:avLst>
              <a:gd name="adj" fmla="val 3869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348912" y="449188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8912" y="449188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38912" y="4491883"/>
            <a:ext cx="7900416" cy="1762506"/>
          </a:xfrm>
          <a:prstGeom prst="roundRect">
            <a:avLst>
              <a:gd name="adj" fmla="val 3113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8368" y="312853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68368" y="312853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68368" y="34851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8368" y="34851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5226" y="471819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5226" y="471819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75226" y="507481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75226" y="507481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75226" y="14277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5226" y="1427750"/>
            <a:ext cx="205740" cy="164592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863262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863262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863262" y="1386602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流程提效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38141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438141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568368" y="316968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5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3169682"/>
            <a:ext cx="164592" cy="164592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815256" y="312853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815256" y="312853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815256" y="3128534"/>
            <a:ext cx="2244151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GS任务：制造检定规程优化</a:t>
            </a:r>
            <a:endParaRPr lang="en-US" sz="1200" dirty="0"/>
          </a:p>
        </p:txBody>
      </p:sp>
      <p:sp>
        <p:nvSpPr>
          <p:cNvPr id="57" name="Text 53"/>
          <p:cNvSpPr/>
          <p:nvPr/>
        </p:nvSpPr>
        <p:spPr>
          <a:xfrm>
            <a:off x="568368" y="34851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568368" y="34851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4381416" y="34851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4381416" y="34851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575226" y="4759345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6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5226" y="4759345"/>
            <a:ext cx="164592" cy="164592"/>
          </a:xfrm>
          <a:prstGeom prst="rect">
            <a:avLst/>
          </a:prstGeom>
        </p:spPr>
      </p:pic>
      <p:sp>
        <p:nvSpPr>
          <p:cNvPr id="63" name="Text 58"/>
          <p:cNvSpPr/>
          <p:nvPr/>
        </p:nvSpPr>
        <p:spPr>
          <a:xfrm>
            <a:off x="822114" y="471819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4" name="Text 59"/>
          <p:cNvSpPr/>
          <p:nvPr/>
        </p:nvSpPr>
        <p:spPr>
          <a:xfrm>
            <a:off x="822114" y="471819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5" name="Text 60"/>
          <p:cNvSpPr/>
          <p:nvPr/>
        </p:nvSpPr>
        <p:spPr>
          <a:xfrm>
            <a:off x="822114" y="4718197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风险预防</a:t>
            </a:r>
            <a:endParaRPr lang="en-US" sz="1200" dirty="0"/>
          </a:p>
        </p:txBody>
      </p:sp>
      <p:sp>
        <p:nvSpPr>
          <p:cNvPr id="66" name="Text 61"/>
          <p:cNvSpPr/>
          <p:nvPr/>
        </p:nvSpPr>
        <p:spPr>
          <a:xfrm>
            <a:off x="575226" y="507481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67" name="Text 62"/>
          <p:cNvSpPr/>
          <p:nvPr/>
        </p:nvSpPr>
        <p:spPr>
          <a:xfrm>
            <a:off x="575226" y="507481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68" name="Text 63"/>
          <p:cNvSpPr/>
          <p:nvPr/>
        </p:nvSpPr>
        <p:spPr>
          <a:xfrm>
            <a:off x="575226" y="5074813"/>
            <a:ext cx="7627788" cy="49377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34</a:t>
            </a:r>
            <a:endParaRPr lang="en-US" sz="2400" dirty="0"/>
          </a:p>
        </p:txBody>
      </p:sp>
      <p:sp>
        <p:nvSpPr>
          <p:cNvPr id="69" name="Text 64"/>
          <p:cNvSpPr/>
          <p:nvPr/>
        </p:nvSpPr>
        <p:spPr>
          <a:xfrm>
            <a:off x="575226" y="562345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70" name="Text 65"/>
          <p:cNvSpPr/>
          <p:nvPr/>
        </p:nvSpPr>
        <p:spPr>
          <a:xfrm>
            <a:off x="575226" y="562345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71" name="Text 66"/>
          <p:cNvSpPr/>
          <p:nvPr/>
        </p:nvSpPr>
        <p:spPr>
          <a:xfrm>
            <a:off x="575226" y="5623453"/>
            <a:ext cx="7627788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关键错误纠正</a:t>
            </a:r>
            <a:endParaRPr lang="en-US" sz="900" dirty="0"/>
          </a:p>
        </p:txBody>
      </p:sp>
      <p:sp>
        <p:nvSpPr>
          <p:cNvPr id="72" name="Text 67"/>
          <p:cNvSpPr/>
          <p:nvPr/>
        </p:nvSpPr>
        <p:spPr>
          <a:xfrm>
            <a:off x="575226" y="586348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73" name="Text 68"/>
          <p:cNvSpPr/>
          <p:nvPr/>
        </p:nvSpPr>
        <p:spPr>
          <a:xfrm>
            <a:off x="575226" y="586348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74" name="Text 69"/>
          <p:cNvSpPr/>
          <p:nvPr/>
        </p:nvSpPr>
        <p:spPr>
          <a:xfrm>
            <a:off x="575226" y="5863483"/>
            <a:ext cx="7627788" cy="1645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主导资料库重建与全面复核，从源头上预防质量隐患</a:t>
            </a:r>
            <a:endParaRPr lang="en-US" sz="800" dirty="0"/>
          </a:p>
        </p:txBody>
      </p:sp>
      <p:sp>
        <p:nvSpPr>
          <p:cNvPr id="75" name="Text 70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6" name="Text 71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7" name="Text 72"/>
          <p:cNvSpPr/>
          <p:nvPr/>
        </p:nvSpPr>
        <p:spPr>
          <a:xfrm>
            <a:off x="575226" y="1743218"/>
            <a:ext cx="3821598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资料模板精简</a:t>
            </a:r>
            <a:endParaRPr lang="en-US" sz="900" dirty="0"/>
          </a:p>
        </p:txBody>
      </p:sp>
      <p:sp>
        <p:nvSpPr>
          <p:cNvPr id="78" name="Text 73"/>
          <p:cNvSpPr/>
          <p:nvPr/>
        </p:nvSpPr>
        <p:spPr>
          <a:xfrm>
            <a:off x="575226" y="198324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9" name="Text 74"/>
          <p:cNvSpPr/>
          <p:nvPr/>
        </p:nvSpPr>
        <p:spPr>
          <a:xfrm>
            <a:off x="575226" y="198324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0" name="Text 75"/>
          <p:cNvSpPr/>
          <p:nvPr/>
        </p:nvSpPr>
        <p:spPr>
          <a:xfrm>
            <a:off x="575226" y="1983248"/>
            <a:ext cx="3821598" cy="37033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8 → 5</a:t>
            </a:r>
            <a:endParaRPr lang="en-US" sz="1800" dirty="0"/>
          </a:p>
        </p:txBody>
      </p:sp>
      <p:sp>
        <p:nvSpPr>
          <p:cNvPr id="81" name="Text 76"/>
          <p:cNvSpPr/>
          <p:nvPr/>
        </p:nvSpPr>
        <p:spPr>
          <a:xfrm>
            <a:off x="575226" y="235358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2" name="Text 77"/>
          <p:cNvSpPr/>
          <p:nvPr/>
        </p:nvSpPr>
        <p:spPr>
          <a:xfrm>
            <a:off x="575226" y="235358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3" name="Text 78"/>
          <p:cNvSpPr/>
          <p:nvPr/>
        </p:nvSpPr>
        <p:spPr>
          <a:xfrm>
            <a:off x="575226" y="2353580"/>
            <a:ext cx="3821598" cy="1645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份数减少</a:t>
            </a:r>
            <a:endParaRPr lang="en-US" sz="800" dirty="0"/>
          </a:p>
        </p:txBody>
      </p:sp>
      <p:sp>
        <p:nvSpPr>
          <p:cNvPr id="84" name="Text 79"/>
          <p:cNvSpPr/>
          <p:nvPr/>
        </p:nvSpPr>
        <p:spPr>
          <a:xfrm>
            <a:off x="438141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5" name="Text 80"/>
          <p:cNvSpPr/>
          <p:nvPr/>
        </p:nvSpPr>
        <p:spPr>
          <a:xfrm>
            <a:off x="438141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6" name="Text 81"/>
          <p:cNvSpPr/>
          <p:nvPr/>
        </p:nvSpPr>
        <p:spPr>
          <a:xfrm>
            <a:off x="4381416" y="1743218"/>
            <a:ext cx="3821598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制造检定规程模板</a:t>
            </a:r>
            <a:endParaRPr lang="en-US" sz="900" dirty="0"/>
          </a:p>
        </p:txBody>
      </p:sp>
      <p:sp>
        <p:nvSpPr>
          <p:cNvPr id="87" name="Text 82"/>
          <p:cNvSpPr/>
          <p:nvPr/>
        </p:nvSpPr>
        <p:spPr>
          <a:xfrm>
            <a:off x="4381416" y="198324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8" name="Text 83"/>
          <p:cNvSpPr/>
          <p:nvPr/>
        </p:nvSpPr>
        <p:spPr>
          <a:xfrm>
            <a:off x="4381416" y="198324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9" name="Text 84"/>
          <p:cNvSpPr/>
          <p:nvPr/>
        </p:nvSpPr>
        <p:spPr>
          <a:xfrm>
            <a:off x="4381416" y="1983248"/>
            <a:ext cx="3821598" cy="37033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5 → 1</a:t>
            </a:r>
            <a:endParaRPr lang="en-US" sz="1800" dirty="0"/>
          </a:p>
        </p:txBody>
      </p:sp>
      <p:sp>
        <p:nvSpPr>
          <p:cNvPr id="90" name="Text 85"/>
          <p:cNvSpPr/>
          <p:nvPr/>
        </p:nvSpPr>
        <p:spPr>
          <a:xfrm>
            <a:off x="4381416" y="235358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1" name="Text 86"/>
          <p:cNvSpPr/>
          <p:nvPr/>
        </p:nvSpPr>
        <p:spPr>
          <a:xfrm>
            <a:off x="4381416" y="235358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2" name="Text 87"/>
          <p:cNvSpPr/>
          <p:nvPr/>
        </p:nvSpPr>
        <p:spPr>
          <a:xfrm>
            <a:off x="4381416" y="2353580"/>
            <a:ext cx="3821598" cy="1645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文件集中</a:t>
            </a:r>
            <a:endParaRPr lang="en-US" sz="800" dirty="0"/>
          </a:p>
        </p:txBody>
      </p:sp>
      <p:sp>
        <p:nvSpPr>
          <p:cNvPr id="93" name="Text 88"/>
          <p:cNvSpPr/>
          <p:nvPr/>
        </p:nvSpPr>
        <p:spPr>
          <a:xfrm>
            <a:off x="568368" y="34851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4" name="Text 89"/>
          <p:cNvSpPr/>
          <p:nvPr/>
        </p:nvSpPr>
        <p:spPr>
          <a:xfrm>
            <a:off x="568368" y="34851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5" name="Text 90"/>
          <p:cNvSpPr/>
          <p:nvPr/>
        </p:nvSpPr>
        <p:spPr>
          <a:xfrm>
            <a:off x="568368" y="3485150"/>
            <a:ext cx="3828456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第一轮（上半年）</a:t>
            </a:r>
            <a:endParaRPr lang="en-US" sz="1000" dirty="0"/>
          </a:p>
        </p:txBody>
      </p:sp>
      <p:sp>
        <p:nvSpPr>
          <p:cNvPr id="96" name="Text 91"/>
          <p:cNvSpPr/>
          <p:nvPr/>
        </p:nvSpPr>
        <p:spPr>
          <a:xfrm>
            <a:off x="568368" y="374575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7" name="Text 92"/>
          <p:cNvSpPr/>
          <p:nvPr/>
        </p:nvSpPr>
        <p:spPr>
          <a:xfrm>
            <a:off x="568368" y="374575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8" name="Text 93"/>
          <p:cNvSpPr/>
          <p:nvPr/>
        </p:nvSpPr>
        <p:spPr>
          <a:xfrm>
            <a:off x="568368" y="3745754"/>
            <a:ext cx="3828456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</a:rPr>
              <a:t>完成118个产品规程优化</a:t>
            </a:r>
            <a:endParaRPr lang="en-US" sz="900" dirty="0"/>
          </a:p>
        </p:txBody>
      </p:sp>
      <p:sp>
        <p:nvSpPr>
          <p:cNvPr id="99" name="Text 94"/>
          <p:cNvSpPr/>
          <p:nvPr/>
        </p:nvSpPr>
        <p:spPr>
          <a:xfrm>
            <a:off x="568368" y="394324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00" name="Text 95"/>
          <p:cNvSpPr/>
          <p:nvPr/>
        </p:nvSpPr>
        <p:spPr>
          <a:xfrm>
            <a:off x="568368" y="394324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01" name="Text 96"/>
          <p:cNvSpPr/>
          <p:nvPr/>
        </p:nvSpPr>
        <p:spPr>
          <a:xfrm>
            <a:off x="568368" y="3943243"/>
            <a:ext cx="3828456" cy="1645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</a:rPr>
              <a:t>锁定唯一配方、统一检验标准</a:t>
            </a:r>
            <a:endParaRPr lang="en-US" sz="800" dirty="0"/>
          </a:p>
        </p:txBody>
      </p:sp>
      <p:sp>
        <p:nvSpPr>
          <p:cNvPr id="102" name="Text 97"/>
          <p:cNvSpPr/>
          <p:nvPr/>
        </p:nvSpPr>
        <p:spPr>
          <a:xfrm>
            <a:off x="4381416" y="34851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03" name="Text 98"/>
          <p:cNvSpPr/>
          <p:nvPr/>
        </p:nvSpPr>
        <p:spPr>
          <a:xfrm>
            <a:off x="4381416" y="34851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04" name="Text 99"/>
          <p:cNvSpPr/>
          <p:nvPr/>
        </p:nvSpPr>
        <p:spPr>
          <a:xfrm>
            <a:off x="4381416" y="3485150"/>
            <a:ext cx="3828456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第二轮（下半年）</a:t>
            </a:r>
            <a:endParaRPr lang="en-US" sz="1000" dirty="0"/>
          </a:p>
        </p:txBody>
      </p:sp>
      <p:sp>
        <p:nvSpPr>
          <p:cNvPr id="105" name="Text 100"/>
          <p:cNvSpPr/>
          <p:nvPr/>
        </p:nvSpPr>
        <p:spPr>
          <a:xfrm>
            <a:off x="4381416" y="374575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06" name="Text 101"/>
          <p:cNvSpPr/>
          <p:nvPr/>
        </p:nvSpPr>
        <p:spPr>
          <a:xfrm>
            <a:off x="4381416" y="374575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07" name="Text 102"/>
          <p:cNvSpPr/>
          <p:nvPr/>
        </p:nvSpPr>
        <p:spPr>
          <a:xfrm>
            <a:off x="4381416" y="3745754"/>
            <a:ext cx="3828456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</a:rPr>
              <a:t>完成228个产品规程标准化复核</a:t>
            </a:r>
            <a:endParaRPr lang="en-US" sz="900" dirty="0"/>
          </a:p>
        </p:txBody>
      </p:sp>
      <p:sp>
        <p:nvSpPr>
          <p:cNvPr id="108" name="Text 103"/>
          <p:cNvSpPr/>
          <p:nvPr/>
        </p:nvSpPr>
        <p:spPr>
          <a:xfrm>
            <a:off x="4381416" y="394324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09" name="Text 104"/>
          <p:cNvSpPr/>
          <p:nvPr/>
        </p:nvSpPr>
        <p:spPr>
          <a:xfrm>
            <a:off x="4381416" y="394324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0" name="Text 105"/>
          <p:cNvSpPr/>
          <p:nvPr/>
        </p:nvSpPr>
        <p:spPr>
          <a:xfrm>
            <a:off x="4381416" y="3943243"/>
            <a:ext cx="3828456" cy="1645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</a:rPr>
              <a:t>确保生产依据持续可靠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778240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72651" y="4574286"/>
            <a:ext cx="456677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7 / 13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8912" y="438912"/>
            <a:ext cx="8080416" cy="2961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成果四：从零搭建中试车间"操作系统"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8912" y="735092"/>
            <a:ext cx="8080416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完成从0到1的体系奠基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8912" y="1160288"/>
            <a:ext cx="7900416" cy="10287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912" y="235358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8912" y="235358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38912" y="2353580"/>
            <a:ext cx="7900416" cy="2043684"/>
          </a:xfrm>
          <a:prstGeom prst="roundRect">
            <a:avLst>
              <a:gd name="adj" fmla="val 2685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348912" y="456185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8912" y="456185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38912" y="4561856"/>
            <a:ext cx="7900416" cy="1378458"/>
          </a:xfrm>
          <a:prstGeom prst="roundRect">
            <a:avLst>
              <a:gd name="adj" fmla="val 3980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5226" y="1743218"/>
            <a:ext cx="7627788" cy="2194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统筹协调上百份母公司体系文件的本地化转版与深度适配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8368" y="257303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68368" y="257303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8368" y="29296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68368" y="29296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5226" y="478817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75226" y="478817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75226" y="51447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75226" y="51447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75226" y="14277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5226" y="1427750"/>
            <a:ext cx="123444" cy="164592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78096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78096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780966" y="1386602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核心任务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568368" y="261418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2614184"/>
            <a:ext cx="123444" cy="164592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774108" y="257303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774108" y="257303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774108" y="2573036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最终成果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568368" y="29296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568368" y="29296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568368" y="2929652"/>
            <a:ext cx="7641504" cy="49377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上海中试车间</a:t>
            </a:r>
            <a:endParaRPr lang="en-US" sz="2400" dirty="0"/>
          </a:p>
        </p:txBody>
      </p:sp>
      <p:sp>
        <p:nvSpPr>
          <p:cNvPr id="57" name="Text 53"/>
          <p:cNvSpPr/>
          <p:nvPr/>
        </p:nvSpPr>
        <p:spPr>
          <a:xfrm>
            <a:off x="568368" y="353315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568368" y="353315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568368" y="3533156"/>
            <a:ext cx="7641504" cy="37033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首套完整文件框架</a:t>
            </a:r>
            <a:endParaRPr lang="en-US" sz="1800" dirty="0"/>
          </a:p>
        </p:txBody>
      </p:sp>
      <p:sp>
        <p:nvSpPr>
          <p:cNvPr id="60" name="Text 56"/>
          <p:cNvSpPr/>
          <p:nvPr/>
        </p:nvSpPr>
        <p:spPr>
          <a:xfrm>
            <a:off x="568368" y="39583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568368" y="39583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568368" y="3958352"/>
            <a:ext cx="7641504" cy="2194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</a:rPr>
              <a:t>输出可落地的通用文件框架，建立车间运行的"操作系统"</a:t>
            </a:r>
            <a:endParaRPr lang="en-US" sz="1000" dirty="0"/>
          </a:p>
        </p:txBody>
      </p:sp>
      <p:sp>
        <p:nvSpPr>
          <p:cNvPr id="63" name="Text 59"/>
          <p:cNvSpPr/>
          <p:nvPr/>
        </p:nvSpPr>
        <p:spPr>
          <a:xfrm>
            <a:off x="575226" y="48293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5226" y="4829318"/>
            <a:ext cx="164592" cy="164592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822114" y="478817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6" name="Text 61"/>
          <p:cNvSpPr/>
          <p:nvPr/>
        </p:nvSpPr>
        <p:spPr>
          <a:xfrm>
            <a:off x="822114" y="478817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7" name="Text 62"/>
          <p:cNvSpPr/>
          <p:nvPr/>
        </p:nvSpPr>
        <p:spPr>
          <a:xfrm>
            <a:off x="822114" y="4788170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体系特点</a:t>
            </a:r>
            <a:endParaRPr lang="en-US" sz="1200" dirty="0"/>
          </a:p>
        </p:txBody>
      </p:sp>
      <p:sp>
        <p:nvSpPr>
          <p:cNvPr id="68" name="Text 63"/>
          <p:cNvSpPr/>
          <p:nvPr/>
        </p:nvSpPr>
        <p:spPr>
          <a:xfrm>
            <a:off x="575226" y="51447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69" name="Text 64"/>
          <p:cNvSpPr/>
          <p:nvPr/>
        </p:nvSpPr>
        <p:spPr>
          <a:xfrm>
            <a:off x="575226" y="51447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70" name="Text 65"/>
          <p:cNvSpPr/>
          <p:nvPr/>
        </p:nvSpPr>
        <p:spPr>
          <a:xfrm>
            <a:off x="3112686" y="51447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71" name="Text 66"/>
          <p:cNvSpPr/>
          <p:nvPr/>
        </p:nvSpPr>
        <p:spPr>
          <a:xfrm>
            <a:off x="3112686" y="51447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72" name="Text 67"/>
          <p:cNvSpPr/>
          <p:nvPr/>
        </p:nvSpPr>
        <p:spPr>
          <a:xfrm>
            <a:off x="5650146" y="51447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73" name="Text 68"/>
          <p:cNvSpPr/>
          <p:nvPr/>
        </p:nvSpPr>
        <p:spPr>
          <a:xfrm>
            <a:off x="5650146" y="51447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74" name="Text 69"/>
          <p:cNvSpPr/>
          <p:nvPr/>
        </p:nvSpPr>
        <p:spPr>
          <a:xfrm>
            <a:off x="575226" y="51447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75" name="Text 70"/>
          <p:cNvSpPr/>
          <p:nvPr/>
        </p:nvSpPr>
        <p:spPr>
          <a:xfrm>
            <a:off x="575226" y="51447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76" name="Text 71"/>
          <p:cNvSpPr/>
          <p:nvPr/>
        </p:nvSpPr>
        <p:spPr>
          <a:xfrm>
            <a:off x="575226" y="5144786"/>
            <a:ext cx="2552868" cy="329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完整</a:t>
            </a:r>
            <a:endParaRPr lang="en-US" sz="1600" dirty="0"/>
          </a:p>
        </p:txBody>
      </p:sp>
      <p:sp>
        <p:nvSpPr>
          <p:cNvPr id="77" name="Text 72"/>
          <p:cNvSpPr/>
          <p:nvPr/>
        </p:nvSpPr>
        <p:spPr>
          <a:xfrm>
            <a:off x="575226" y="552883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78" name="Text 73"/>
          <p:cNvSpPr/>
          <p:nvPr/>
        </p:nvSpPr>
        <p:spPr>
          <a:xfrm>
            <a:off x="575226" y="552883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79" name="Text 74"/>
          <p:cNvSpPr/>
          <p:nvPr/>
        </p:nvSpPr>
        <p:spPr>
          <a:xfrm>
            <a:off x="575226" y="5528834"/>
            <a:ext cx="2552868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覆盖全流程</a:t>
            </a:r>
            <a:endParaRPr lang="en-US" sz="900" dirty="0"/>
          </a:p>
        </p:txBody>
      </p:sp>
      <p:sp>
        <p:nvSpPr>
          <p:cNvPr id="80" name="Text 75"/>
          <p:cNvSpPr/>
          <p:nvPr/>
        </p:nvSpPr>
        <p:spPr>
          <a:xfrm>
            <a:off x="3112686" y="51447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81" name="Text 76"/>
          <p:cNvSpPr/>
          <p:nvPr/>
        </p:nvSpPr>
        <p:spPr>
          <a:xfrm>
            <a:off x="3112686" y="51447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82" name="Text 77"/>
          <p:cNvSpPr/>
          <p:nvPr/>
        </p:nvSpPr>
        <p:spPr>
          <a:xfrm>
            <a:off x="3112686" y="5144786"/>
            <a:ext cx="2552868" cy="329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可落地</a:t>
            </a:r>
            <a:endParaRPr lang="en-US" sz="1600" dirty="0"/>
          </a:p>
        </p:txBody>
      </p:sp>
      <p:sp>
        <p:nvSpPr>
          <p:cNvPr id="83" name="Text 78"/>
          <p:cNvSpPr/>
          <p:nvPr/>
        </p:nvSpPr>
        <p:spPr>
          <a:xfrm>
            <a:off x="3112686" y="552883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84" name="Text 79"/>
          <p:cNvSpPr/>
          <p:nvPr/>
        </p:nvSpPr>
        <p:spPr>
          <a:xfrm>
            <a:off x="3112686" y="552883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85" name="Text 80"/>
          <p:cNvSpPr/>
          <p:nvPr/>
        </p:nvSpPr>
        <p:spPr>
          <a:xfrm>
            <a:off x="3112686" y="5528834"/>
            <a:ext cx="2552868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直接可用</a:t>
            </a:r>
            <a:endParaRPr lang="en-US" sz="900" dirty="0"/>
          </a:p>
        </p:txBody>
      </p:sp>
      <p:sp>
        <p:nvSpPr>
          <p:cNvPr id="86" name="Text 81"/>
          <p:cNvSpPr/>
          <p:nvPr/>
        </p:nvSpPr>
        <p:spPr>
          <a:xfrm>
            <a:off x="5650146" y="51447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87" name="Text 82"/>
          <p:cNvSpPr/>
          <p:nvPr/>
        </p:nvSpPr>
        <p:spPr>
          <a:xfrm>
            <a:off x="5650146" y="51447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88" name="Text 83"/>
          <p:cNvSpPr/>
          <p:nvPr/>
        </p:nvSpPr>
        <p:spPr>
          <a:xfrm>
            <a:off x="5650146" y="5144786"/>
            <a:ext cx="2552868" cy="329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通用</a:t>
            </a:r>
            <a:endParaRPr lang="en-US" sz="1600" dirty="0"/>
          </a:p>
        </p:txBody>
      </p:sp>
      <p:sp>
        <p:nvSpPr>
          <p:cNvPr id="89" name="Text 84"/>
          <p:cNvSpPr/>
          <p:nvPr/>
        </p:nvSpPr>
        <p:spPr>
          <a:xfrm>
            <a:off x="5650146" y="552883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90" name="Text 85"/>
          <p:cNvSpPr/>
          <p:nvPr/>
        </p:nvSpPr>
        <p:spPr>
          <a:xfrm>
            <a:off x="5650146" y="552883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91" name="Text 86"/>
          <p:cNvSpPr/>
          <p:nvPr/>
        </p:nvSpPr>
        <p:spPr>
          <a:xfrm>
            <a:off x="5650146" y="5528834"/>
            <a:ext cx="2552868" cy="185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标准化模板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778240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72651" y="4574286"/>
            <a:ext cx="456677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8 / 13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8912" y="438912"/>
            <a:ext cx="8080416" cy="2961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成果五：攻坚BK项目，输出管理洞见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8912" y="735092"/>
            <a:ext cx="8080416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打赢首仗，沉淀关键教训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8912" y="1160288"/>
            <a:ext cx="7900416" cy="1835158"/>
          </a:xfrm>
          <a:prstGeom prst="roundRect">
            <a:avLst>
              <a:gd name="adj" fmla="val 2990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912" y="316003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8912" y="316003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38912" y="3160038"/>
            <a:ext cx="7900416" cy="2389263"/>
          </a:xfrm>
          <a:prstGeom prst="roundRect">
            <a:avLst>
              <a:gd name="adj" fmla="val 2296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8368" y="337949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68368" y="337949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8368" y="373611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8368" y="373611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5226" y="14277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5226" y="1427750"/>
            <a:ext cx="164592" cy="16459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22114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822114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822114" y="1386602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技术难题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75226" y="2311039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75226" y="2311039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568368" y="342064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3420642"/>
            <a:ext cx="123444" cy="164592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774108" y="337949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774108" y="337949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774108" y="3379494"/>
            <a:ext cx="1825920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【任务导向】管理洞见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568368" y="373611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568368" y="373611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568368" y="430393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568368" y="430393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568368" y="48717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568368" y="48717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575226" y="1743218"/>
            <a:ext cx="7627788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问题发现</a:t>
            </a:r>
            <a:endParaRPr lang="en-US" sz="1000" dirty="0"/>
          </a:p>
        </p:txBody>
      </p:sp>
      <p:sp>
        <p:nvSpPr>
          <p:cNvPr id="59" name="Text 55"/>
          <p:cNvSpPr/>
          <p:nvPr/>
        </p:nvSpPr>
        <p:spPr>
          <a:xfrm>
            <a:off x="575226" y="200382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575226" y="200382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575226" y="2003822"/>
            <a:ext cx="7627788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BK项目出现定量参考品浓度超标的技术瓶颈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575226" y="2311039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575226" y="2311039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575226" y="2311039"/>
            <a:ext cx="7627788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解决方案</a:t>
            </a:r>
            <a:endParaRPr lang="en-US" sz="1000" dirty="0"/>
          </a:p>
        </p:txBody>
      </p:sp>
      <p:sp>
        <p:nvSpPr>
          <p:cNvPr id="65" name="Text 61"/>
          <p:cNvSpPr/>
          <p:nvPr/>
        </p:nvSpPr>
        <p:spPr>
          <a:xfrm>
            <a:off x="575226" y="257164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575226" y="257164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575226" y="2571643"/>
            <a:ext cx="7627788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通过收集数据与独立计算，确定调整方案并推动问题解决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568368" y="373611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568368" y="373611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0" name="Text 66"/>
          <p:cNvSpPr/>
          <p:nvPr/>
        </p:nvSpPr>
        <p:spPr>
          <a:xfrm>
            <a:off x="568368" y="3736110"/>
            <a:ext cx="7641504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深度复盘</a:t>
            </a:r>
            <a:endParaRPr lang="en-US" sz="1000" dirty="0"/>
          </a:p>
        </p:txBody>
      </p:sp>
      <p:sp>
        <p:nvSpPr>
          <p:cNvPr id="71" name="Text 67"/>
          <p:cNvSpPr/>
          <p:nvPr/>
        </p:nvSpPr>
        <p:spPr>
          <a:xfrm>
            <a:off x="568368" y="399671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2" name="Text 68"/>
          <p:cNvSpPr/>
          <p:nvPr/>
        </p:nvSpPr>
        <p:spPr>
          <a:xfrm>
            <a:off x="568368" y="399671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3" name="Text 69"/>
          <p:cNvSpPr/>
          <p:nvPr/>
        </p:nvSpPr>
        <p:spPr>
          <a:xfrm>
            <a:off x="568368" y="3996714"/>
            <a:ext cx="7641504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</a:rPr>
              <a:t>项目结束后提交详细复盘报告</a:t>
            </a:r>
            <a:endParaRPr lang="en-US" sz="900" dirty="0"/>
          </a:p>
        </p:txBody>
      </p:sp>
      <p:sp>
        <p:nvSpPr>
          <p:cNvPr id="74" name="Text 70"/>
          <p:cNvSpPr/>
          <p:nvPr/>
        </p:nvSpPr>
        <p:spPr>
          <a:xfrm>
            <a:off x="568368" y="430393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568368" y="430393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6" name="Text 72"/>
          <p:cNvSpPr/>
          <p:nvPr/>
        </p:nvSpPr>
        <p:spPr>
          <a:xfrm>
            <a:off x="568368" y="4303931"/>
            <a:ext cx="7641504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核心发现</a:t>
            </a:r>
            <a:endParaRPr lang="en-US" sz="1000" dirty="0"/>
          </a:p>
        </p:txBody>
      </p:sp>
      <p:sp>
        <p:nvSpPr>
          <p:cNvPr id="77" name="Text 73"/>
          <p:cNvSpPr/>
          <p:nvPr/>
        </p:nvSpPr>
        <p:spPr>
          <a:xfrm>
            <a:off x="568368" y="4564535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8" name="Text 74"/>
          <p:cNvSpPr/>
          <p:nvPr/>
        </p:nvSpPr>
        <p:spPr>
          <a:xfrm>
            <a:off x="568368" y="4564535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9" name="Text 75"/>
          <p:cNvSpPr/>
          <p:nvPr/>
        </p:nvSpPr>
        <p:spPr>
          <a:xfrm>
            <a:off x="568368" y="4564535"/>
            <a:ext cx="7641504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</a:rPr>
              <a:t>明确指出"检验体系支撑不足"是项目周期延误的核心瓶颈</a:t>
            </a:r>
            <a:endParaRPr lang="en-US" sz="900" dirty="0"/>
          </a:p>
        </p:txBody>
      </p:sp>
      <p:sp>
        <p:nvSpPr>
          <p:cNvPr id="80" name="Text 76"/>
          <p:cNvSpPr/>
          <p:nvPr/>
        </p:nvSpPr>
        <p:spPr>
          <a:xfrm>
            <a:off x="568368" y="48717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1" name="Text 77"/>
          <p:cNvSpPr/>
          <p:nvPr/>
        </p:nvSpPr>
        <p:spPr>
          <a:xfrm>
            <a:off x="568368" y="48717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2" name="Text 78"/>
          <p:cNvSpPr/>
          <p:nvPr/>
        </p:nvSpPr>
        <p:spPr>
          <a:xfrm>
            <a:off x="568368" y="4871752"/>
            <a:ext cx="7641504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价值输出</a:t>
            </a:r>
            <a:endParaRPr lang="en-US" sz="1000" dirty="0"/>
          </a:p>
        </p:txBody>
      </p:sp>
      <p:sp>
        <p:nvSpPr>
          <p:cNvPr id="83" name="Text 79"/>
          <p:cNvSpPr/>
          <p:nvPr/>
        </p:nvSpPr>
        <p:spPr>
          <a:xfrm>
            <a:off x="568368" y="513235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4" name="Text 80"/>
          <p:cNvSpPr/>
          <p:nvPr/>
        </p:nvSpPr>
        <p:spPr>
          <a:xfrm>
            <a:off x="568368" y="513235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5" name="Text 81"/>
          <p:cNvSpPr/>
          <p:nvPr/>
        </p:nvSpPr>
        <p:spPr>
          <a:xfrm>
            <a:off x="568368" y="5132356"/>
            <a:ext cx="7641504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</a:rPr>
              <a:t>为后续所有项目提供关键的风险预警和经验借鉴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778240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7265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72651" y="4574286"/>
            <a:ext cx="456677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9 / 13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8912" y="438912"/>
            <a:ext cx="8080416" cy="2961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成果六：打造HSV-2效率样板，沉淀组织资产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8912" y="735092"/>
            <a:ext cx="8080416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不仅完成任务，更为未来造"轮子"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53500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53500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38912" y="1160288"/>
            <a:ext cx="4539996" cy="864108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3500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53500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75226" y="1386602"/>
            <a:ext cx="4267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批记录页数缩减对比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53500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053500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143500" y="1160288"/>
            <a:ext cx="3195828" cy="1006733"/>
          </a:xfrm>
          <a:prstGeom prst="roundRect">
            <a:avLst>
              <a:gd name="adj" fmla="val 5450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53500" y="233161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53500" y="233161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143500" y="2331613"/>
            <a:ext cx="3195828" cy="2018931"/>
          </a:xfrm>
          <a:prstGeom prst="roundRect">
            <a:avLst>
              <a:gd name="adj" fmla="val 2717"/>
            </a:avLst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5279814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279814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79814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279814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279814" y="1743218"/>
            <a:ext cx="2923200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优化为"配制-分装-打标/贴标/组装"三步清晰工序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72956" y="2551069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72956" y="2551069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272956" y="2907685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272956" y="2907685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279814" y="14277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69814" y="1427750"/>
            <a:ext cx="164592" cy="164592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5526702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5526702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526702" y="1386602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流程重构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5272956" y="259221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5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62956" y="2592217"/>
            <a:ext cx="164592" cy="164592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5519844" y="2551069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5519844" y="2551069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5519844" y="2551069"/>
            <a:ext cx="1825920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【结果导向】价值沉淀</a:t>
            </a:r>
            <a:endParaRPr lang="en-US" sz="1200" dirty="0"/>
          </a:p>
        </p:txBody>
      </p:sp>
      <p:sp>
        <p:nvSpPr>
          <p:cNvPr id="57" name="Text 53"/>
          <p:cNvSpPr/>
          <p:nvPr/>
        </p:nvSpPr>
        <p:spPr>
          <a:xfrm>
            <a:off x="5272956" y="2907685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5272956" y="2907685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5272956" y="347550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5272956" y="347550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5272956" y="2907685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5272956" y="2907685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5272956" y="2907685"/>
            <a:ext cx="2936916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效率革命</a:t>
            </a:r>
            <a:endParaRPr lang="en-US" sz="1000" dirty="0"/>
          </a:p>
        </p:txBody>
      </p:sp>
      <p:sp>
        <p:nvSpPr>
          <p:cNvPr id="64" name="Text 60"/>
          <p:cNvSpPr/>
          <p:nvPr/>
        </p:nvSpPr>
        <p:spPr>
          <a:xfrm>
            <a:off x="5272956" y="3168289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5272956" y="3168289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5272956" y="3168289"/>
            <a:ext cx="2936916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</a:rPr>
              <a:t>批记录模板页数缩减数十页</a:t>
            </a:r>
            <a:endParaRPr lang="en-US" sz="900" dirty="0"/>
          </a:p>
        </p:txBody>
      </p:sp>
      <p:sp>
        <p:nvSpPr>
          <p:cNvPr id="67" name="Text 63"/>
          <p:cNvSpPr/>
          <p:nvPr/>
        </p:nvSpPr>
        <p:spPr>
          <a:xfrm>
            <a:off x="5272956" y="347550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5272956" y="347550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5272956" y="3475506"/>
            <a:ext cx="2936916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组织资产</a:t>
            </a:r>
            <a:endParaRPr lang="en-US" sz="1000" dirty="0"/>
          </a:p>
        </p:txBody>
      </p:sp>
      <p:sp>
        <p:nvSpPr>
          <p:cNvPr id="70" name="Text 66"/>
          <p:cNvSpPr/>
          <p:nvPr/>
        </p:nvSpPr>
        <p:spPr>
          <a:xfrm>
            <a:off x="5272956" y="373611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1" name="Text 67"/>
          <p:cNvSpPr/>
          <p:nvPr/>
        </p:nvSpPr>
        <p:spPr>
          <a:xfrm>
            <a:off x="5272956" y="373611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2" name="Text 68"/>
          <p:cNvSpPr/>
          <p:nvPr/>
        </p:nvSpPr>
        <p:spPr>
          <a:xfrm>
            <a:off x="5272956" y="3736110"/>
            <a:ext cx="2936916" cy="3949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</a:rPr>
              <a:t>产出可复用于后续所有qPCR产品的标准批记录模板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778240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1157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1157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11571" y="4574286"/>
            <a:ext cx="517757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10 / 13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8912" y="438912"/>
            <a:ext cx="8080416" cy="2961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不足与反思（结构化呈现）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8912" y="735092"/>
            <a:ext cx="8080416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成绩之外，我也冷静反思了三点不足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8912" y="1160288"/>
            <a:ext cx="7900416" cy="1566303"/>
          </a:xfrm>
          <a:prstGeom prst="roundRect">
            <a:avLst>
              <a:gd name="adj" fmla="val 3503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912" y="289118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8912" y="289118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38912" y="2891183"/>
            <a:ext cx="7900416" cy="1566303"/>
          </a:xfrm>
          <a:prstGeom prst="roundRect">
            <a:avLst>
              <a:gd name="adj" fmla="val 3503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8912" y="462207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8912" y="462207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38912" y="4622078"/>
            <a:ext cx="7900416" cy="1566303"/>
          </a:xfrm>
          <a:prstGeom prst="roundRect">
            <a:avLst>
              <a:gd name="adj" fmla="val 3503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5226" y="311749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5226" y="311749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5226" y="347411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75226" y="347411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5226" y="48483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5226" y="48483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75226" y="520500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75226" y="520500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75226" y="14277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5226" y="1427750"/>
            <a:ext cx="164592" cy="164592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822114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822114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822114" y="1386602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预判不足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575226" y="202300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75226" y="202300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575226" y="2023003"/>
            <a:ext cx="7627788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在BK项目初期，主要聚焦于生产环节的顺利，对检验环节作为独立关键路径可能产生的深层制约，识别不够前瞻。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575226" y="23027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575226" y="23027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575226" y="3158645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5226" y="3158645"/>
            <a:ext cx="123444" cy="164592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780966" y="311749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780966" y="311749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780966" y="3117497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转型待进</a:t>
            </a:r>
            <a:endParaRPr lang="en-US" sz="1200" dirty="0"/>
          </a:p>
        </p:txBody>
      </p:sp>
      <p:sp>
        <p:nvSpPr>
          <p:cNvPr id="60" name="Text 56"/>
          <p:cNvSpPr/>
          <p:nvPr/>
        </p:nvSpPr>
        <p:spPr>
          <a:xfrm>
            <a:off x="575226" y="347411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575226" y="347411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575226" y="375389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575226" y="375389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575226" y="3753898"/>
            <a:ext cx="7627788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当前工作多集中于既定框架下的改进，在主动设计前瞻性、预防性的流程与管理机制方面，体系化思维还有待加强。</a:t>
            </a:r>
            <a:endParaRPr lang="en-US" sz="900" dirty="0"/>
          </a:p>
        </p:txBody>
      </p:sp>
      <p:sp>
        <p:nvSpPr>
          <p:cNvPr id="65" name="Text 61"/>
          <p:cNvSpPr/>
          <p:nvPr/>
        </p:nvSpPr>
        <p:spPr>
          <a:xfrm>
            <a:off x="575226" y="403368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575226" y="403368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575226" y="488954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6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5226" y="4889540"/>
            <a:ext cx="164592" cy="164592"/>
          </a:xfrm>
          <a:prstGeom prst="rect">
            <a:avLst/>
          </a:prstGeom>
        </p:spPr>
      </p:pic>
      <p:sp>
        <p:nvSpPr>
          <p:cNvPr id="69" name="Text 64"/>
          <p:cNvSpPr/>
          <p:nvPr/>
        </p:nvSpPr>
        <p:spPr>
          <a:xfrm>
            <a:off x="822114" y="48483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0" name="Text 65"/>
          <p:cNvSpPr/>
          <p:nvPr/>
        </p:nvSpPr>
        <p:spPr>
          <a:xfrm>
            <a:off x="822114" y="48483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1" name="Text 66"/>
          <p:cNvSpPr/>
          <p:nvPr/>
        </p:nvSpPr>
        <p:spPr>
          <a:xfrm>
            <a:off x="822114" y="4848392"/>
            <a:ext cx="1167552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方法待系统化</a:t>
            </a:r>
            <a:endParaRPr lang="en-US" sz="1200" dirty="0"/>
          </a:p>
        </p:txBody>
      </p:sp>
      <p:sp>
        <p:nvSpPr>
          <p:cNvPr id="72" name="Text 67"/>
          <p:cNvSpPr/>
          <p:nvPr/>
        </p:nvSpPr>
        <p:spPr>
          <a:xfrm>
            <a:off x="575226" y="520500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3" name="Text 68"/>
          <p:cNvSpPr/>
          <p:nvPr/>
        </p:nvSpPr>
        <p:spPr>
          <a:xfrm>
            <a:off x="575226" y="520500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4" name="Text 69"/>
          <p:cNvSpPr/>
          <p:nvPr/>
        </p:nvSpPr>
        <p:spPr>
          <a:xfrm>
            <a:off x="575226" y="548479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5" name="Text 70"/>
          <p:cNvSpPr/>
          <p:nvPr/>
        </p:nvSpPr>
        <p:spPr>
          <a:xfrm>
            <a:off x="575226" y="548479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6" name="Text 71"/>
          <p:cNvSpPr/>
          <p:nvPr/>
        </p:nvSpPr>
        <p:spPr>
          <a:xfrm>
            <a:off x="575226" y="5484793"/>
            <a:ext cx="7627788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面对多线并行的复杂任务，目前更多依赖个人经验和主动跟进，需要学习系统的项目管理工具与方法论。</a:t>
            </a:r>
            <a:endParaRPr lang="en-US" sz="900" dirty="0"/>
          </a:p>
        </p:txBody>
      </p:sp>
      <p:sp>
        <p:nvSpPr>
          <p:cNvPr id="77" name="Text 72"/>
          <p:cNvSpPr/>
          <p:nvPr/>
        </p:nvSpPr>
        <p:spPr>
          <a:xfrm>
            <a:off x="575226" y="576457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8" name="Text 73"/>
          <p:cNvSpPr/>
          <p:nvPr/>
        </p:nvSpPr>
        <p:spPr>
          <a:xfrm>
            <a:off x="575226" y="576457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9" name="Text 74"/>
          <p:cNvSpPr/>
          <p:nvPr/>
        </p:nvSpPr>
        <p:spPr>
          <a:xfrm>
            <a:off x="575226" y="17637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0" name="Text 75"/>
          <p:cNvSpPr/>
          <p:nvPr/>
        </p:nvSpPr>
        <p:spPr>
          <a:xfrm>
            <a:off x="575226" y="17637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1" name="Text 76"/>
          <p:cNvSpPr/>
          <p:nvPr/>
        </p:nvSpPr>
        <p:spPr>
          <a:xfrm>
            <a:off x="575226" y="1763792"/>
            <a:ext cx="550332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问题：</a:t>
            </a:r>
            <a:endParaRPr lang="en-US" sz="900" dirty="0"/>
          </a:p>
        </p:txBody>
      </p:sp>
      <p:sp>
        <p:nvSpPr>
          <p:cNvPr id="82" name="Text 77"/>
          <p:cNvSpPr/>
          <p:nvPr/>
        </p:nvSpPr>
        <p:spPr>
          <a:xfrm>
            <a:off x="945558" y="17637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3" name="Text 78"/>
          <p:cNvSpPr/>
          <p:nvPr/>
        </p:nvSpPr>
        <p:spPr>
          <a:xfrm>
            <a:off x="945558" y="17637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4" name="Text 79"/>
          <p:cNvSpPr/>
          <p:nvPr/>
        </p:nvSpPr>
        <p:spPr>
          <a:xfrm>
            <a:off x="945558" y="1763792"/>
            <a:ext cx="2278548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对中试项目的跨部门耦合风险预判不足</a:t>
            </a:r>
            <a:endParaRPr lang="en-US" sz="900" dirty="0"/>
          </a:p>
        </p:txBody>
      </p:sp>
      <p:sp>
        <p:nvSpPr>
          <p:cNvPr id="85" name="Text 80"/>
          <p:cNvSpPr/>
          <p:nvPr/>
        </p:nvSpPr>
        <p:spPr>
          <a:xfrm>
            <a:off x="575226" y="232336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6" name="Text 81"/>
          <p:cNvSpPr/>
          <p:nvPr/>
        </p:nvSpPr>
        <p:spPr>
          <a:xfrm>
            <a:off x="575226" y="232336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7" name="Text 82"/>
          <p:cNvSpPr/>
          <p:nvPr/>
        </p:nvSpPr>
        <p:spPr>
          <a:xfrm>
            <a:off x="575226" y="2323362"/>
            <a:ext cx="550332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反思：</a:t>
            </a:r>
            <a:endParaRPr lang="en-US" sz="900" dirty="0"/>
          </a:p>
        </p:txBody>
      </p:sp>
      <p:sp>
        <p:nvSpPr>
          <p:cNvPr id="88" name="Text 83"/>
          <p:cNvSpPr/>
          <p:nvPr/>
        </p:nvSpPr>
        <p:spPr>
          <a:xfrm>
            <a:off x="945558" y="232336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9" name="Text 84"/>
          <p:cNvSpPr/>
          <p:nvPr/>
        </p:nvSpPr>
        <p:spPr>
          <a:xfrm>
            <a:off x="945558" y="232336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0" name="Text 85"/>
          <p:cNvSpPr/>
          <p:nvPr/>
        </p:nvSpPr>
        <p:spPr>
          <a:xfrm>
            <a:off x="945558" y="2323362"/>
            <a:ext cx="2772324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未来需提升系统性风险识别能力，加强前置沟通</a:t>
            </a:r>
            <a:endParaRPr lang="en-US" sz="900" dirty="0"/>
          </a:p>
        </p:txBody>
      </p:sp>
      <p:sp>
        <p:nvSpPr>
          <p:cNvPr id="91" name="Text 86"/>
          <p:cNvSpPr/>
          <p:nvPr/>
        </p:nvSpPr>
        <p:spPr>
          <a:xfrm>
            <a:off x="575226" y="349468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2" name="Text 87"/>
          <p:cNvSpPr/>
          <p:nvPr/>
        </p:nvSpPr>
        <p:spPr>
          <a:xfrm>
            <a:off x="575226" y="349468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3" name="Text 88"/>
          <p:cNvSpPr/>
          <p:nvPr/>
        </p:nvSpPr>
        <p:spPr>
          <a:xfrm>
            <a:off x="575226" y="3494687"/>
            <a:ext cx="550332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问题：</a:t>
            </a:r>
            <a:endParaRPr lang="en-US" sz="900" dirty="0"/>
          </a:p>
        </p:txBody>
      </p:sp>
      <p:sp>
        <p:nvSpPr>
          <p:cNvPr id="94" name="Text 89"/>
          <p:cNvSpPr/>
          <p:nvPr/>
        </p:nvSpPr>
        <p:spPr>
          <a:xfrm>
            <a:off x="945558" y="349468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5" name="Text 90"/>
          <p:cNvSpPr/>
          <p:nvPr/>
        </p:nvSpPr>
        <p:spPr>
          <a:xfrm>
            <a:off x="945558" y="349468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6" name="Text 91"/>
          <p:cNvSpPr/>
          <p:nvPr/>
        </p:nvSpPr>
        <p:spPr>
          <a:xfrm>
            <a:off x="945558" y="3494687"/>
            <a:ext cx="2752607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从"流程优化者"向"体系设计者"的转型仍需努力</a:t>
            </a:r>
            <a:endParaRPr lang="en-US" sz="900" dirty="0"/>
          </a:p>
        </p:txBody>
      </p:sp>
      <p:sp>
        <p:nvSpPr>
          <p:cNvPr id="97" name="Text 92"/>
          <p:cNvSpPr/>
          <p:nvPr/>
        </p:nvSpPr>
        <p:spPr>
          <a:xfrm>
            <a:off x="575226" y="405425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8" name="Text 93"/>
          <p:cNvSpPr/>
          <p:nvPr/>
        </p:nvSpPr>
        <p:spPr>
          <a:xfrm>
            <a:off x="575226" y="405425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9" name="Text 94"/>
          <p:cNvSpPr/>
          <p:nvPr/>
        </p:nvSpPr>
        <p:spPr>
          <a:xfrm>
            <a:off x="575226" y="4054257"/>
            <a:ext cx="550332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反思：</a:t>
            </a:r>
            <a:endParaRPr lang="en-US" sz="900" dirty="0"/>
          </a:p>
        </p:txBody>
      </p:sp>
      <p:sp>
        <p:nvSpPr>
          <p:cNvPr id="100" name="Text 95"/>
          <p:cNvSpPr/>
          <p:nvPr/>
        </p:nvSpPr>
        <p:spPr>
          <a:xfrm>
            <a:off x="945558" y="405425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01" name="Text 96"/>
          <p:cNvSpPr/>
          <p:nvPr/>
        </p:nvSpPr>
        <p:spPr>
          <a:xfrm>
            <a:off x="945558" y="4054257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02" name="Text 97"/>
          <p:cNvSpPr/>
          <p:nvPr/>
        </p:nvSpPr>
        <p:spPr>
          <a:xfrm>
            <a:off x="945558" y="4054257"/>
            <a:ext cx="2401992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需要培养更宏观的视角和系统性思考能力</a:t>
            </a:r>
            <a:endParaRPr lang="en-US" sz="900" dirty="0"/>
          </a:p>
        </p:txBody>
      </p:sp>
      <p:sp>
        <p:nvSpPr>
          <p:cNvPr id="103" name="Text 98"/>
          <p:cNvSpPr/>
          <p:nvPr/>
        </p:nvSpPr>
        <p:spPr>
          <a:xfrm>
            <a:off x="575226" y="522558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04" name="Text 99"/>
          <p:cNvSpPr/>
          <p:nvPr/>
        </p:nvSpPr>
        <p:spPr>
          <a:xfrm>
            <a:off x="575226" y="522558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05" name="Text 100"/>
          <p:cNvSpPr/>
          <p:nvPr/>
        </p:nvSpPr>
        <p:spPr>
          <a:xfrm>
            <a:off x="575226" y="5225582"/>
            <a:ext cx="550332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问题：</a:t>
            </a:r>
            <a:endParaRPr lang="en-US" sz="900" dirty="0"/>
          </a:p>
        </p:txBody>
      </p:sp>
      <p:sp>
        <p:nvSpPr>
          <p:cNvPr id="106" name="Text 101"/>
          <p:cNvSpPr/>
          <p:nvPr/>
        </p:nvSpPr>
        <p:spPr>
          <a:xfrm>
            <a:off x="945558" y="522558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07" name="Text 102"/>
          <p:cNvSpPr/>
          <p:nvPr/>
        </p:nvSpPr>
        <p:spPr>
          <a:xfrm>
            <a:off x="945558" y="522558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08" name="Text 103"/>
          <p:cNvSpPr/>
          <p:nvPr/>
        </p:nvSpPr>
        <p:spPr>
          <a:xfrm>
            <a:off x="945558" y="5225582"/>
            <a:ext cx="1537884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项目管理方法有待系统化</a:t>
            </a:r>
            <a:endParaRPr lang="en-US" sz="900" dirty="0"/>
          </a:p>
        </p:txBody>
      </p:sp>
      <p:sp>
        <p:nvSpPr>
          <p:cNvPr id="109" name="Text 104"/>
          <p:cNvSpPr/>
          <p:nvPr/>
        </p:nvSpPr>
        <p:spPr>
          <a:xfrm>
            <a:off x="575226" y="57851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0" name="Text 105"/>
          <p:cNvSpPr/>
          <p:nvPr/>
        </p:nvSpPr>
        <p:spPr>
          <a:xfrm>
            <a:off x="575226" y="57851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1" name="Text 106"/>
          <p:cNvSpPr/>
          <p:nvPr/>
        </p:nvSpPr>
        <p:spPr>
          <a:xfrm>
            <a:off x="575226" y="5785152"/>
            <a:ext cx="550332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反思：</a:t>
            </a:r>
            <a:endParaRPr lang="en-US" sz="900" dirty="0"/>
          </a:p>
        </p:txBody>
      </p:sp>
      <p:sp>
        <p:nvSpPr>
          <p:cNvPr id="112" name="Text 107"/>
          <p:cNvSpPr/>
          <p:nvPr/>
        </p:nvSpPr>
        <p:spPr>
          <a:xfrm>
            <a:off x="945558" y="57851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3" name="Text 108"/>
          <p:cNvSpPr/>
          <p:nvPr/>
        </p:nvSpPr>
        <p:spPr>
          <a:xfrm>
            <a:off x="945558" y="578515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4" name="Text 109"/>
          <p:cNvSpPr/>
          <p:nvPr/>
        </p:nvSpPr>
        <p:spPr>
          <a:xfrm>
            <a:off x="945558" y="5785152"/>
            <a:ext cx="2401992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以提升工作的规划性、可控性与可复制性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778240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1157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1157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11571" y="4574286"/>
            <a:ext cx="517757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11 / 13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8912" y="438912"/>
            <a:ext cx="8080416" cy="2961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2026年工作计划（务实、聚焦）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8912" y="735092"/>
            <a:ext cx="8080416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成为质量"协作者"与高效"转化执行者"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8912" y="1160288"/>
            <a:ext cx="3867912" cy="1788545"/>
          </a:xfrm>
          <a:prstGeom prst="roundRect">
            <a:avLst>
              <a:gd name="adj" fmla="val 3068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1416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81416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471416" y="1160288"/>
            <a:ext cx="3867912" cy="1788545"/>
          </a:xfrm>
          <a:prstGeom prst="roundRect">
            <a:avLst>
              <a:gd name="adj" fmla="val 3068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00872" y="137974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600872" y="137974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600872" y="17363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600872" y="17363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5226" y="14277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5226" y="1427750"/>
            <a:ext cx="144018" cy="16459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01540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801540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801540" y="1386602"/>
            <a:ext cx="1496736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计划一：巩固工具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75226" y="1743218"/>
            <a:ext cx="3595284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推动"台账维护"机制化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75226" y="203125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575226" y="203125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75226" y="2031254"/>
            <a:ext cx="3595284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建立原料与企业参考品台账的定期核查与更新机制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75226" y="233847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575226" y="233847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9" name="Shape 46"/>
          <p:cNvSpPr/>
          <p:nvPr/>
        </p:nvSpPr>
        <p:spPr>
          <a:xfrm>
            <a:off x="665226" y="2338471"/>
            <a:ext cx="3415284" cy="384048"/>
          </a:xfrm>
          <a:prstGeom prst="roundRect">
            <a:avLst>
              <a:gd name="adj" fmla="val 7143"/>
            </a:avLst>
          </a:prstGeom>
          <a:solidFill>
            <a:srgbClr val="2563EB"/>
          </a:solidFill>
          <a:ln/>
        </p:spPr>
      </p:sp>
      <p:sp>
        <p:nvSpPr>
          <p:cNvPr id="50" name="Text 47"/>
          <p:cNvSpPr/>
          <p:nvPr/>
        </p:nvSpPr>
        <p:spPr>
          <a:xfrm>
            <a:off x="4600872" y="14208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90872" y="1420892"/>
            <a:ext cx="144018" cy="164592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4827186" y="137974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4827186" y="137974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4827186" y="1379744"/>
            <a:ext cx="1496736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计划二：推广专长</a:t>
            </a:r>
            <a:endParaRPr lang="en-US" sz="1200" dirty="0"/>
          </a:p>
        </p:txBody>
      </p:sp>
      <p:sp>
        <p:nvSpPr>
          <p:cNvPr id="55" name="Text 51"/>
          <p:cNvSpPr/>
          <p:nvPr/>
        </p:nvSpPr>
        <p:spPr>
          <a:xfrm>
            <a:off x="4600872" y="17363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4600872" y="17363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4600872" y="1736360"/>
            <a:ext cx="3609000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固化并推广高效模板</a:t>
            </a:r>
            <a:endParaRPr lang="en-US" sz="1000" dirty="0"/>
          </a:p>
        </p:txBody>
      </p:sp>
      <p:sp>
        <p:nvSpPr>
          <p:cNvPr id="58" name="Text 54"/>
          <p:cNvSpPr/>
          <p:nvPr/>
        </p:nvSpPr>
        <p:spPr>
          <a:xfrm>
            <a:off x="4600872" y="202439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4600872" y="202439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4600872" y="2024396"/>
            <a:ext cx="3609000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</a:rPr>
              <a:t>将HSV-2项目中验证成功的高效批记录模板，固化为标准版本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4600872" y="233161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4600872" y="233161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3" name="Shape 59"/>
          <p:cNvSpPr/>
          <p:nvPr/>
        </p:nvSpPr>
        <p:spPr>
          <a:xfrm>
            <a:off x="4690872" y="2331613"/>
            <a:ext cx="3429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64" name="Text 60"/>
          <p:cNvSpPr/>
          <p:nvPr/>
        </p:nvSpPr>
        <p:spPr>
          <a:xfrm>
            <a:off x="684954" y="2448199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684954" y="2448199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684954" y="2448199"/>
            <a:ext cx="3375828" cy="1645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确保重要质量工具持续、准确发挥作用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4710600" y="244134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4710600" y="244134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4710600" y="2441341"/>
            <a:ext cx="3389544" cy="1645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在2个新中试项目中应用推广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778240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1157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1157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11571" y="4574286"/>
            <a:ext cx="517757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12 / 13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8912" y="438912"/>
            <a:ext cx="8080416" cy="2961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建议与核心资源申请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8912" y="7350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8912" y="735092"/>
            <a:ext cx="8080416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务实建议与核心能力提升申请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8912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8912" y="1160288"/>
            <a:ext cx="3867912" cy="1986034"/>
          </a:xfrm>
          <a:prstGeom prst="roundRect">
            <a:avLst>
              <a:gd name="adj" fmla="val 2762"/>
            </a:avLst>
          </a:prstGeom>
          <a:solidFill>
            <a:srgbClr val="F8FAFC"/>
          </a:solidFill>
          <a:ln w="9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1416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81416" y="11602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471416" y="1160288"/>
            <a:ext cx="3867912" cy="1986034"/>
          </a:xfrm>
          <a:prstGeom prst="roundRect">
            <a:avLst>
              <a:gd name="adj" fmla="val 2762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522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00872" y="137974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600872" y="137974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600872" y="17363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600872" y="17363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5226" y="142775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5226" y="1427750"/>
            <a:ext cx="123444" cy="16459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8096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780966" y="138660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780966" y="1386602"/>
            <a:ext cx="838368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务实建议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75226" y="174321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75226" y="1743218"/>
            <a:ext cx="3595284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推行"中试项目启动检查清单"制度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75226" y="203125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575226" y="203125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75226" y="2031254"/>
            <a:ext cx="3595284" cy="3949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借鉴BK项目经验，将"检验体系支撑"等关键风险点前置识别，形成标准化清单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75226" y="25359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575226" y="25359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9" name="Shape 46"/>
          <p:cNvSpPr/>
          <p:nvPr/>
        </p:nvSpPr>
        <p:spPr>
          <a:xfrm>
            <a:off x="665226" y="2535960"/>
            <a:ext cx="3415284" cy="384048"/>
          </a:xfrm>
          <a:prstGeom prst="roundRect">
            <a:avLst>
              <a:gd name="adj" fmla="val 7143"/>
            </a:avLst>
          </a:prstGeom>
          <a:solidFill>
            <a:srgbClr val="2563EB"/>
          </a:solidFill>
          <a:ln/>
        </p:spPr>
      </p:sp>
      <p:sp>
        <p:nvSpPr>
          <p:cNvPr id="50" name="Text 47"/>
          <p:cNvSpPr/>
          <p:nvPr/>
        </p:nvSpPr>
        <p:spPr>
          <a:xfrm>
            <a:off x="4600872" y="142089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90872" y="1420892"/>
            <a:ext cx="205740" cy="164592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4888908" y="137974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4888908" y="1379744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4888908" y="1379744"/>
            <a:ext cx="1167552" cy="246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核心资源申请</a:t>
            </a:r>
            <a:endParaRPr lang="en-US" sz="1200" dirty="0"/>
          </a:p>
        </p:txBody>
      </p:sp>
      <p:sp>
        <p:nvSpPr>
          <p:cNvPr id="55" name="Text 51"/>
          <p:cNvSpPr/>
          <p:nvPr/>
        </p:nvSpPr>
        <p:spPr>
          <a:xfrm>
            <a:off x="4600872" y="17363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4600872" y="173636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4600872" y="1736360"/>
            <a:ext cx="3609000" cy="20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PMP认证学习</a:t>
            </a:r>
            <a:endParaRPr lang="en-US" sz="1000" dirty="0"/>
          </a:p>
        </p:txBody>
      </p:sp>
      <p:sp>
        <p:nvSpPr>
          <p:cNvPr id="58" name="Text 54"/>
          <p:cNvSpPr/>
          <p:nvPr/>
        </p:nvSpPr>
        <p:spPr>
          <a:xfrm>
            <a:off x="4600872" y="202439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4600872" y="202439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4600872" y="2024396"/>
            <a:ext cx="3609000" cy="1974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</a:rPr>
              <a:t>申请参加PMP（项目管理专业人士）认证培训与考试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4600872" y="233161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4600872" y="2331613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3" name="Shape 59"/>
          <p:cNvSpPr/>
          <p:nvPr/>
        </p:nvSpPr>
        <p:spPr>
          <a:xfrm>
            <a:off x="4690872" y="2331613"/>
            <a:ext cx="3429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64" name="Text 60"/>
          <p:cNvSpPr/>
          <p:nvPr/>
        </p:nvSpPr>
        <p:spPr>
          <a:xfrm>
            <a:off x="684954" y="26456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684954" y="2645688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684954" y="2645688"/>
            <a:ext cx="3375828" cy="1645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预期效果：减少项目延误，提升交付质量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4710600" y="244134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4710600" y="244134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4710600" y="2441341"/>
            <a:ext cx="3389544" cy="1645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价值：系统提升项目管理能力，更好支撑复杂任务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778240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90000" y="0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1157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11571" y="4574286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11571" y="4574286"/>
            <a:ext cx="517757" cy="144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13 / 13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12" y="438912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40645" y="205472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40645" y="205472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40645" y="205472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40645" y="205472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40645" y="2054721"/>
            <a:ext cx="1496843" cy="3949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感谢聆听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640645" y="261429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40645" y="2614291"/>
            <a:ext cx="180000" cy="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40645" y="2614291"/>
            <a:ext cx="1496843" cy="2687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敬请批评指正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2025年度述职报告</dc:title>
  <dc:subject/>
  <dc:creator>Neuro</dc:creator>
  <cp:lastModifiedBy>Neuro</cp:lastModifiedBy>
  <cp:revision>15</cp:revision>
  <dcterms:created xsi:type="dcterms:W3CDTF">2026-01-13T06:14:22Z</dcterms:created>
  <dcterms:modified xsi:type="dcterms:W3CDTF">2026-01-13T06:14:22Z</dcterms:modified>
</cp:coreProperties>
</file>